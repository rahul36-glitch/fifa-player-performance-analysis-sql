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embeddedFontLst>
    <p:embeddedFont>
      <p:font typeface="Consolas" panose="020B0609020204030204" pitchFamily="49" charset="0"/>
      <p:regular r:id="rId15"/>
      <p:bold r:id="rId16"/>
      <p:italic r:id="rId17"/>
      <p:boldItalic r:id="rId18"/>
    </p:embeddedFont>
    <p:embeddedFont>
      <p:font typeface="Merriweather" panose="00000500000000000000" pitchFamily="2" charset="0"/>
      <p:regular r:id="rId19"/>
    </p:embeddedFont>
    <p:embeddedFont>
      <p:font typeface="Merriweather Bold" panose="020B0604020202020204" charset="0"/>
      <p:regular r:id="rId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4" d="100"/>
          <a:sy n="104" d="100"/>
        </p:scale>
        <p:origin x="13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090865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
to this presentation on FIFA Player Performance Analysis. We'll explore how data science can unlock key insights into player performance, strategy, and talent identification.
My name is [Your Name], and I'm excited to share our findings and recommendations with you today.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B.Tech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sv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jpeg"/><Relationship Id="rId5" Type="http://schemas.openxmlformats.org/officeDocument/2006/relationships/image" Target="../media/image17.jpeg"/><Relationship Id="rId4" Type="http://schemas.openxmlformats.org/officeDocument/2006/relationships/image" Target="../media/image16.jpe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19.svg"/><Relationship Id="rId7" Type="http://schemas.openxmlformats.org/officeDocument/2006/relationships/image" Target="../media/image23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svg"/><Relationship Id="rId5" Type="http://schemas.openxmlformats.org/officeDocument/2006/relationships/image" Target="../media/image21.svg"/><Relationship Id="rId10" Type="http://schemas.openxmlformats.org/officeDocument/2006/relationships/image" Target="../media/image26.svg"/><Relationship Id="rId4" Type="http://schemas.openxmlformats.org/officeDocument/2006/relationships/image" Target="../media/image20.svg"/><Relationship Id="rId9" Type="http://schemas.openxmlformats.org/officeDocument/2006/relationships/image" Target="../media/image25.sv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svg"/><Relationship Id="rId3" Type="http://schemas.openxmlformats.org/officeDocument/2006/relationships/image" Target="../media/image27.svg"/><Relationship Id="rId7" Type="http://schemas.openxmlformats.org/officeDocument/2006/relationships/image" Target="../media/image31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svg"/><Relationship Id="rId5" Type="http://schemas.openxmlformats.org/officeDocument/2006/relationships/image" Target="../media/image29.svg"/><Relationship Id="rId4" Type="http://schemas.openxmlformats.org/officeDocument/2006/relationships/image" Target="../media/image28.svg"/><Relationship Id="rId9" Type="http://schemas.openxmlformats.org/officeDocument/2006/relationships/image" Target="../media/image33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svg"/><Relationship Id="rId7" Type="http://schemas.openxmlformats.org/officeDocument/2006/relationships/image" Target="../media/image38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svg"/><Relationship Id="rId5" Type="http://schemas.openxmlformats.org/officeDocument/2006/relationships/image" Target="../media/image36.svg"/><Relationship Id="rId4" Type="http://schemas.openxmlformats.org/officeDocument/2006/relationships/image" Target="../media/image35.sv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9874" y="740610"/>
            <a:ext cx="7520119" cy="10291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1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FIFA Player Performance Analysis </a:t>
            </a:r>
            <a:endParaRPr lang="en-US" sz="4150" dirty="0"/>
          </a:p>
        </p:txBody>
      </p:sp>
      <p:sp>
        <p:nvSpPr>
          <p:cNvPr id="3" name="Text 1"/>
          <p:cNvSpPr/>
          <p:nvPr/>
        </p:nvSpPr>
        <p:spPr>
          <a:xfrm>
            <a:off x="539874" y="2407146"/>
            <a:ext cx="1849365" cy="2171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Rahul Naik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39874" y="2624255"/>
            <a:ext cx="3390571" cy="4814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Sports Anlystics Portfolio Project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39874" y="2839845"/>
            <a:ext cx="3051358" cy="64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b="1" u="sng" dirty="0">
                <a:solidFill>
                  <a:srgbClr val="609DFF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B.Tech</a:t>
            </a:r>
            <a:r>
              <a:rPr lang="en-US" sz="9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 CSE |  Data Analyst Aspirant | SQL Developer 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PostgreSQL . SQL . Git . GitHub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39874" y="4051474"/>
            <a:ext cx="8521452" cy="2467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9874" y="600968"/>
            <a:ext cx="8064252" cy="467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FIFA Player Performance Analysis using SQL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39874" y="1315844"/>
            <a:ext cx="6074778" cy="41558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1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 data-driven exploration of player performance, market value, and club strategies using </a:t>
            </a:r>
            <a:r>
              <a:rPr lang="en-US" sz="1150" b="1" dirty="0">
                <a:solidFill>
                  <a:srgbClr val="F5A3A3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PostgreSQL &amp; SQL</a:t>
            </a:r>
            <a:r>
              <a:rPr lang="en-US" sz="11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— simulating real-world sports analytics scenarios.</a:t>
            </a:r>
            <a:endParaRPr lang="en-US" sz="1150" dirty="0"/>
          </a:p>
          <a:p>
            <a:pPr marL="0" indent="0" algn="l">
              <a:lnSpc>
                <a:spcPct val="131000"/>
              </a:lnSpc>
              <a:spcAft>
                <a:spcPts val="1250"/>
              </a:spcAft>
              <a:buNone/>
            </a:pPr>
            <a:r>
              <a:rPr lang="en-US" sz="11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The project includes:</a:t>
            </a:r>
            <a:endParaRPr lang="en-US" sz="1150" dirty="0"/>
          </a:p>
          <a:p>
            <a:pPr marL="0" indent="0" algn="l">
              <a:lnSpc>
                <a:spcPct val="131000"/>
              </a:lnSpc>
              <a:spcAft>
                <a:spcPts val="1250"/>
              </a:spcAft>
              <a:buNone/>
            </a:pPr>
            <a:r>
              <a:rPr lang="en-US" sz="11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· Loading and exploring the dataset</a:t>
            </a:r>
            <a:endParaRPr lang="en-US" sz="1150" dirty="0"/>
          </a:p>
          <a:p>
            <a:pPr marL="0" indent="0" algn="l">
              <a:lnSpc>
                <a:spcPct val="131000"/>
              </a:lnSpc>
              <a:spcAft>
                <a:spcPts val="1250"/>
              </a:spcAft>
              <a:buNone/>
            </a:pPr>
            <a:r>
              <a:rPr lang="en-US" sz="11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· Performing Exploratory Data Analysis (EDA)</a:t>
            </a:r>
            <a:endParaRPr lang="en-US" sz="1150" dirty="0"/>
          </a:p>
          <a:p>
            <a:pPr marL="0" indent="0" algn="l">
              <a:lnSpc>
                <a:spcPct val="131000"/>
              </a:lnSpc>
              <a:spcAft>
                <a:spcPts val="1250"/>
              </a:spcAft>
              <a:buNone/>
            </a:pPr>
            <a:r>
              <a:rPr lang="en-US" sz="11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· Cleaning and validating data</a:t>
            </a:r>
            <a:endParaRPr lang="en-US" sz="1150" dirty="0"/>
          </a:p>
          <a:p>
            <a:pPr marL="0" indent="0" algn="l">
              <a:lnSpc>
                <a:spcPct val="131000"/>
              </a:lnSpc>
              <a:spcAft>
                <a:spcPts val="1250"/>
              </a:spcAft>
              <a:buNone/>
            </a:pPr>
            <a:r>
              <a:rPr lang="en-US" sz="11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· Running analytical SQL queries in PostgreSQL</a:t>
            </a:r>
            <a:endParaRPr lang="en-US" sz="1150" dirty="0"/>
          </a:p>
          <a:p>
            <a:pPr marL="0" indent="0" algn="l">
              <a:lnSpc>
                <a:spcPct val="131000"/>
              </a:lnSpc>
              <a:spcAft>
                <a:spcPts val="1250"/>
              </a:spcAft>
              <a:buNone/>
            </a:pPr>
            <a:r>
              <a:rPr lang="en-US" sz="11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· Creating a detailed project report</a:t>
            </a:r>
            <a:endParaRPr lang="en-US" sz="1150" dirty="0"/>
          </a:p>
          <a:p>
            <a:pPr marL="0" indent="0" algn="l">
              <a:lnSpc>
                <a:spcPct val="131000"/>
              </a:lnSpc>
              <a:buNone/>
            </a:pPr>
            <a:r>
              <a:rPr lang="en-US" sz="11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· Designing a presentation using Gamma AI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9874" y="467841"/>
            <a:ext cx="8064252" cy="414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Dataset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9874" y="1109960"/>
            <a:ext cx="8064252" cy="3943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0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The dataset covers </a:t>
            </a:r>
            <a:r>
              <a:rPr lang="en-US" sz="1000" b="1" dirty="0">
                <a:solidFill>
                  <a:srgbClr val="E2E6E9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2,800 rows and 16 columns </a:t>
            </a:r>
            <a:r>
              <a:rPr lang="en-US" sz="10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across 7 clubs, 8 nationalities, and 9 positions — used to analyze performance, transfer decisions, and club strategies.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39874" y="1698724"/>
            <a:ext cx="3960912" cy="437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2800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39874" y="2287860"/>
            <a:ext cx="3960912" cy="207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Total Players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643140" y="1698724"/>
            <a:ext cx="3960986" cy="437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7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4643140" y="2287860"/>
            <a:ext cx="3960986" cy="207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Total Clubs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9874" y="2789039"/>
            <a:ext cx="3960912" cy="437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28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539874" y="3378175"/>
            <a:ext cx="3960912" cy="207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Average Age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643140" y="2789039"/>
            <a:ext cx="3960986" cy="437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76.87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4643140" y="3378175"/>
            <a:ext cx="3960986" cy="207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Avg Overall Rating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39874" y="3879354"/>
            <a:ext cx="3960912" cy="437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€90.57M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539874" y="4468490"/>
            <a:ext cx="3960912" cy="207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Avg Market Value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643140" y="3879354"/>
            <a:ext cx="3960986" cy="437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24.1%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4643140" y="4468490"/>
            <a:ext cx="3960986" cy="207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Injury-Prone Players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9874" y="430485"/>
            <a:ext cx="8064252" cy="308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Tools &amp; Project Workflow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539874" y="897508"/>
            <a:ext cx="3911575" cy="1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Tools &amp; Technologies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39874" y="1123131"/>
            <a:ext cx="1924124" cy="914251"/>
          </a:xfrm>
          <a:prstGeom prst="roundRect">
            <a:avLst>
              <a:gd name="adj" fmla="val 4540"/>
            </a:avLst>
          </a:prstGeom>
          <a:solidFill>
            <a:srgbClr val="003180"/>
          </a:solidFill>
          <a:ln w="4763">
            <a:solidFill>
              <a:srgbClr val="194A9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3458" y="1226716"/>
            <a:ext cx="296466" cy="296466"/>
          </a:xfrm>
          <a:prstGeom prst="ellipse">
            <a:avLst/>
          </a:prstGeom>
          <a:solidFill>
            <a:srgbClr val="609DFF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5016" y="1308199"/>
            <a:ext cx="133350" cy="13335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3458" y="1586433"/>
            <a:ext cx="1716956" cy="1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PostgreSQL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643458" y="1804095"/>
            <a:ext cx="1716956" cy="129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7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Database management &amp; analysis</a:t>
            </a:r>
            <a:endParaRPr lang="en-US" sz="750" dirty="0"/>
          </a:p>
        </p:txBody>
      </p:sp>
      <p:sp>
        <p:nvSpPr>
          <p:cNvPr id="9" name="Shape 6"/>
          <p:cNvSpPr/>
          <p:nvPr/>
        </p:nvSpPr>
        <p:spPr>
          <a:xfrm>
            <a:off x="2527250" y="1123131"/>
            <a:ext cx="1924199" cy="914251"/>
          </a:xfrm>
          <a:prstGeom prst="roundRect">
            <a:avLst>
              <a:gd name="adj" fmla="val 4540"/>
            </a:avLst>
          </a:prstGeom>
          <a:solidFill>
            <a:srgbClr val="003180"/>
          </a:solidFill>
          <a:ln w="4763">
            <a:solidFill>
              <a:srgbClr val="194A99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630835" y="1226716"/>
            <a:ext cx="296466" cy="296466"/>
          </a:xfrm>
          <a:prstGeom prst="ellipse">
            <a:avLst/>
          </a:prstGeom>
          <a:solidFill>
            <a:srgbClr val="609DFF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12393" y="1308199"/>
            <a:ext cx="133350" cy="13335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630835" y="1586433"/>
            <a:ext cx="1717030" cy="1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SQL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2630835" y="1804095"/>
            <a:ext cx="1717030" cy="129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7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Data querying &amp; business analysis</a:t>
            </a:r>
            <a:endParaRPr lang="en-US" sz="750" dirty="0"/>
          </a:p>
        </p:txBody>
      </p:sp>
      <p:sp>
        <p:nvSpPr>
          <p:cNvPr id="14" name="Shape 10"/>
          <p:cNvSpPr/>
          <p:nvPr/>
        </p:nvSpPr>
        <p:spPr>
          <a:xfrm>
            <a:off x="539874" y="2100635"/>
            <a:ext cx="1924124" cy="914251"/>
          </a:xfrm>
          <a:prstGeom prst="roundRect">
            <a:avLst>
              <a:gd name="adj" fmla="val 4540"/>
            </a:avLst>
          </a:prstGeom>
          <a:solidFill>
            <a:srgbClr val="003180"/>
          </a:solidFill>
          <a:ln w="4763">
            <a:solidFill>
              <a:srgbClr val="194A99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43458" y="2204219"/>
            <a:ext cx="296466" cy="296466"/>
          </a:xfrm>
          <a:prstGeom prst="ellipse">
            <a:avLst/>
          </a:prstGeom>
          <a:solidFill>
            <a:srgbClr val="609DFF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25016" y="2285702"/>
            <a:ext cx="133350" cy="13335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3458" y="2563937"/>
            <a:ext cx="1716956" cy="1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Gamma AI</a:t>
            </a:r>
            <a:endParaRPr lang="en-US" sz="950" dirty="0"/>
          </a:p>
        </p:txBody>
      </p:sp>
      <p:sp>
        <p:nvSpPr>
          <p:cNvPr id="18" name="Text 13"/>
          <p:cNvSpPr/>
          <p:nvPr/>
        </p:nvSpPr>
        <p:spPr>
          <a:xfrm>
            <a:off x="643458" y="2781598"/>
            <a:ext cx="1716956" cy="129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7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Presentation &amp; storytelling</a:t>
            </a:r>
            <a:endParaRPr lang="en-US" sz="750" dirty="0"/>
          </a:p>
        </p:txBody>
      </p:sp>
      <p:sp>
        <p:nvSpPr>
          <p:cNvPr id="19" name="Shape 14"/>
          <p:cNvSpPr/>
          <p:nvPr/>
        </p:nvSpPr>
        <p:spPr>
          <a:xfrm>
            <a:off x="2527250" y="2100635"/>
            <a:ext cx="1924199" cy="914251"/>
          </a:xfrm>
          <a:prstGeom prst="roundRect">
            <a:avLst>
              <a:gd name="adj" fmla="val 4540"/>
            </a:avLst>
          </a:prstGeom>
          <a:solidFill>
            <a:srgbClr val="003180"/>
          </a:solidFill>
          <a:ln w="4763">
            <a:solidFill>
              <a:srgbClr val="194A99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2630835" y="2204219"/>
            <a:ext cx="296466" cy="296466"/>
          </a:xfrm>
          <a:prstGeom prst="ellipse">
            <a:avLst/>
          </a:prstGeom>
          <a:solidFill>
            <a:srgbClr val="609DFF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712393" y="2285702"/>
            <a:ext cx="133350" cy="13335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2630835" y="2563937"/>
            <a:ext cx="1717030" cy="1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Git &amp; GitHub</a:t>
            </a:r>
            <a:endParaRPr lang="en-US" sz="950" dirty="0"/>
          </a:p>
        </p:txBody>
      </p:sp>
      <p:sp>
        <p:nvSpPr>
          <p:cNvPr id="23" name="Text 17"/>
          <p:cNvSpPr/>
          <p:nvPr/>
        </p:nvSpPr>
        <p:spPr>
          <a:xfrm>
            <a:off x="2630835" y="2781598"/>
            <a:ext cx="1717030" cy="129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7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Version control &amp; hosting</a:t>
            </a:r>
            <a:endParaRPr lang="en-US" sz="750" dirty="0"/>
          </a:p>
        </p:txBody>
      </p:sp>
      <p:sp>
        <p:nvSpPr>
          <p:cNvPr id="24" name="Text 18"/>
          <p:cNvSpPr/>
          <p:nvPr/>
        </p:nvSpPr>
        <p:spPr>
          <a:xfrm>
            <a:off x="4697313" y="897508"/>
            <a:ext cx="3911575" cy="1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Project Workflow</a:t>
            </a:r>
            <a:endParaRPr lang="en-US" sz="950" dirty="0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97313" y="1135484"/>
            <a:ext cx="98822" cy="98822"/>
          </a:xfrm>
          <a:prstGeom prst="rect">
            <a:avLst/>
          </a:prstGeom>
        </p:spPr>
      </p:pic>
      <p:sp>
        <p:nvSpPr>
          <p:cNvPr id="26" name="Shape 19"/>
          <p:cNvSpPr/>
          <p:nvPr/>
        </p:nvSpPr>
        <p:spPr>
          <a:xfrm>
            <a:off x="4697313" y="1276796"/>
            <a:ext cx="3911575" cy="14288"/>
          </a:xfrm>
          <a:prstGeom prst="rect">
            <a:avLst/>
          </a:prstGeom>
          <a:solidFill>
            <a:srgbClr val="609DFF"/>
          </a:solidFill>
          <a:ln/>
        </p:spPr>
      </p:sp>
      <p:sp>
        <p:nvSpPr>
          <p:cNvPr id="27" name="Text 20"/>
          <p:cNvSpPr/>
          <p:nvPr/>
        </p:nvSpPr>
        <p:spPr>
          <a:xfrm>
            <a:off x="4697313" y="1354782"/>
            <a:ext cx="3911575" cy="1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Data Loading</a:t>
            </a:r>
            <a:endParaRPr lang="en-US" sz="950" dirty="0"/>
          </a:p>
        </p:txBody>
      </p:sp>
      <p:sp>
        <p:nvSpPr>
          <p:cNvPr id="28" name="Text 21"/>
          <p:cNvSpPr/>
          <p:nvPr/>
        </p:nvSpPr>
        <p:spPr>
          <a:xfrm>
            <a:off x="4697313" y="1572444"/>
            <a:ext cx="3911575" cy="129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7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Import CSV into PostgreSQL</a:t>
            </a:r>
            <a:endParaRPr lang="en-US" sz="750" dirty="0"/>
          </a:p>
        </p:txBody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97313" y="1851868"/>
            <a:ext cx="98822" cy="98822"/>
          </a:xfrm>
          <a:prstGeom prst="rect">
            <a:avLst/>
          </a:prstGeom>
        </p:spPr>
      </p:pic>
      <p:sp>
        <p:nvSpPr>
          <p:cNvPr id="30" name="Shape 22"/>
          <p:cNvSpPr/>
          <p:nvPr/>
        </p:nvSpPr>
        <p:spPr>
          <a:xfrm>
            <a:off x="4697313" y="1993181"/>
            <a:ext cx="3911575" cy="14288"/>
          </a:xfrm>
          <a:prstGeom prst="rect">
            <a:avLst/>
          </a:prstGeom>
          <a:solidFill>
            <a:srgbClr val="609DFF"/>
          </a:solidFill>
          <a:ln/>
        </p:spPr>
      </p:sp>
      <p:sp>
        <p:nvSpPr>
          <p:cNvPr id="31" name="Text 23"/>
          <p:cNvSpPr/>
          <p:nvPr/>
        </p:nvSpPr>
        <p:spPr>
          <a:xfrm>
            <a:off x="4697313" y="2071167"/>
            <a:ext cx="3911575" cy="1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EDA</a:t>
            </a:r>
            <a:endParaRPr lang="en-US" sz="950" dirty="0"/>
          </a:p>
        </p:txBody>
      </p:sp>
      <p:sp>
        <p:nvSpPr>
          <p:cNvPr id="32" name="Text 24"/>
          <p:cNvSpPr/>
          <p:nvPr/>
        </p:nvSpPr>
        <p:spPr>
          <a:xfrm>
            <a:off x="4697313" y="2288828"/>
            <a:ext cx="3911575" cy="129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7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Explore structure &amp; distributions</a:t>
            </a:r>
            <a:endParaRPr lang="en-US" sz="750" dirty="0"/>
          </a:p>
        </p:txBody>
      </p:sp>
      <p:pic>
        <p:nvPicPr>
          <p:cNvPr id="33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697313" y="2568253"/>
            <a:ext cx="98822" cy="98822"/>
          </a:xfrm>
          <a:prstGeom prst="rect">
            <a:avLst/>
          </a:prstGeom>
        </p:spPr>
      </p:pic>
      <p:sp>
        <p:nvSpPr>
          <p:cNvPr id="34" name="Shape 25"/>
          <p:cNvSpPr/>
          <p:nvPr/>
        </p:nvSpPr>
        <p:spPr>
          <a:xfrm>
            <a:off x="4697313" y="2709565"/>
            <a:ext cx="3911575" cy="14288"/>
          </a:xfrm>
          <a:prstGeom prst="rect">
            <a:avLst/>
          </a:prstGeom>
          <a:solidFill>
            <a:srgbClr val="609DFF"/>
          </a:solidFill>
          <a:ln/>
        </p:spPr>
      </p:sp>
      <p:sp>
        <p:nvSpPr>
          <p:cNvPr id="35" name="Text 26"/>
          <p:cNvSpPr/>
          <p:nvPr/>
        </p:nvSpPr>
        <p:spPr>
          <a:xfrm>
            <a:off x="4697313" y="2787551"/>
            <a:ext cx="3911575" cy="1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Data Cleaning</a:t>
            </a:r>
            <a:endParaRPr lang="en-US" sz="950" dirty="0"/>
          </a:p>
        </p:txBody>
      </p:sp>
      <p:sp>
        <p:nvSpPr>
          <p:cNvPr id="36" name="Text 27"/>
          <p:cNvSpPr/>
          <p:nvPr/>
        </p:nvSpPr>
        <p:spPr>
          <a:xfrm>
            <a:off x="4697313" y="3005212"/>
            <a:ext cx="3911575" cy="129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7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Validate &amp; verify quality</a:t>
            </a:r>
            <a:endParaRPr lang="en-US" sz="750" dirty="0"/>
          </a:p>
        </p:txBody>
      </p:sp>
      <p:pic>
        <p:nvPicPr>
          <p:cNvPr id="37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697313" y="3284637"/>
            <a:ext cx="98822" cy="98822"/>
          </a:xfrm>
          <a:prstGeom prst="rect">
            <a:avLst/>
          </a:prstGeom>
        </p:spPr>
      </p:pic>
      <p:sp>
        <p:nvSpPr>
          <p:cNvPr id="38" name="Shape 28"/>
          <p:cNvSpPr/>
          <p:nvPr/>
        </p:nvSpPr>
        <p:spPr>
          <a:xfrm>
            <a:off x="4697313" y="3425949"/>
            <a:ext cx="3911575" cy="14288"/>
          </a:xfrm>
          <a:prstGeom prst="rect">
            <a:avLst/>
          </a:prstGeom>
          <a:solidFill>
            <a:srgbClr val="609DFF"/>
          </a:solidFill>
          <a:ln/>
        </p:spPr>
      </p:sp>
      <p:sp>
        <p:nvSpPr>
          <p:cNvPr id="39" name="Text 29"/>
          <p:cNvSpPr/>
          <p:nvPr/>
        </p:nvSpPr>
        <p:spPr>
          <a:xfrm>
            <a:off x="4697313" y="3503935"/>
            <a:ext cx="3911575" cy="1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SQL Analysis</a:t>
            </a:r>
            <a:endParaRPr lang="en-US" sz="950" dirty="0"/>
          </a:p>
        </p:txBody>
      </p:sp>
      <p:sp>
        <p:nvSpPr>
          <p:cNvPr id="40" name="Text 30"/>
          <p:cNvSpPr/>
          <p:nvPr/>
        </p:nvSpPr>
        <p:spPr>
          <a:xfrm>
            <a:off x="4697313" y="3721596"/>
            <a:ext cx="3911575" cy="129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7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Answer business questions</a:t>
            </a:r>
            <a:endParaRPr lang="en-US" sz="750" dirty="0"/>
          </a:p>
        </p:txBody>
      </p:sp>
      <p:pic>
        <p:nvPicPr>
          <p:cNvPr id="41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697313" y="4001021"/>
            <a:ext cx="98822" cy="98822"/>
          </a:xfrm>
          <a:prstGeom prst="rect">
            <a:avLst/>
          </a:prstGeom>
        </p:spPr>
      </p:pic>
      <p:sp>
        <p:nvSpPr>
          <p:cNvPr id="42" name="Shape 31"/>
          <p:cNvSpPr/>
          <p:nvPr/>
        </p:nvSpPr>
        <p:spPr>
          <a:xfrm>
            <a:off x="4697313" y="4142333"/>
            <a:ext cx="3911575" cy="14288"/>
          </a:xfrm>
          <a:prstGeom prst="rect">
            <a:avLst/>
          </a:prstGeom>
          <a:solidFill>
            <a:srgbClr val="609DFF"/>
          </a:solidFill>
          <a:ln/>
        </p:spPr>
      </p:sp>
      <p:sp>
        <p:nvSpPr>
          <p:cNvPr id="43" name="Text 32"/>
          <p:cNvSpPr/>
          <p:nvPr/>
        </p:nvSpPr>
        <p:spPr>
          <a:xfrm>
            <a:off x="4697313" y="4220319"/>
            <a:ext cx="3911575" cy="1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Reporting &amp; Presentation</a:t>
            </a:r>
            <a:endParaRPr lang="en-US" sz="950" dirty="0"/>
          </a:p>
        </p:txBody>
      </p:sp>
      <p:sp>
        <p:nvSpPr>
          <p:cNvPr id="44" name="Text 33"/>
          <p:cNvSpPr/>
          <p:nvPr/>
        </p:nvSpPr>
        <p:spPr>
          <a:xfrm>
            <a:off x="4697313" y="4437980"/>
            <a:ext cx="3911575" cy="129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7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Summarize findings &amp; insights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9874" y="424235"/>
            <a:ext cx="8064252" cy="240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SQL Concepts Implemented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39874" y="757684"/>
            <a:ext cx="3938067" cy="1851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The project applied the full spectrum of SQL — from basic aggregations to advanced window functions — to answer real-world football analytics questions across performance, transfers, and club strategy.</a:t>
            </a:r>
            <a:endParaRPr lang="en-US" sz="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l="-3104" t="-10773" r="-1751" b="-10773"/>
          <a:stretch>
            <a:fillRect/>
          </a:stretch>
        </p:blipFill>
        <p:spPr>
          <a:xfrm>
            <a:off x="368710" y="991004"/>
            <a:ext cx="3888000" cy="373463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670822" y="1274787"/>
            <a:ext cx="3938067" cy="144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Example SQL Concepts by Category</a:t>
            </a:r>
            <a:endParaRPr lang="en-US" sz="9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70822" y="1462757"/>
            <a:ext cx="3514533" cy="95703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757440" y="1742182"/>
            <a:ext cx="3764831" cy="1205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Basic Analysis</a:t>
            </a:r>
            <a:endParaRPr lang="en-US" sz="750" dirty="0"/>
          </a:p>
        </p:txBody>
      </p:sp>
      <p:sp>
        <p:nvSpPr>
          <p:cNvPr id="8" name="Text 4"/>
          <p:cNvSpPr/>
          <p:nvPr/>
        </p:nvSpPr>
        <p:spPr>
          <a:xfrm>
            <a:off x="4757440" y="1901279"/>
            <a:ext cx="3764831" cy="92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00" b="1" dirty="0">
                <a:solidFill>
                  <a:srgbClr val="E2E6E9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SELECT</a:t>
            </a:r>
            <a:r>
              <a:rPr lang="en-US" sz="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, </a:t>
            </a:r>
            <a:r>
              <a:rPr lang="en-US" sz="600" b="1" dirty="0">
                <a:solidFill>
                  <a:srgbClr val="E2E6E9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WHERE</a:t>
            </a:r>
            <a:r>
              <a:rPr lang="en-US" sz="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, </a:t>
            </a:r>
            <a:r>
              <a:rPr lang="en-US" sz="600" b="1" dirty="0">
                <a:solidFill>
                  <a:srgbClr val="E2E6E9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GROUP BY</a:t>
            </a:r>
            <a:r>
              <a:rPr lang="en-US" sz="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, </a:t>
            </a:r>
            <a:r>
              <a:rPr lang="en-US" sz="600" b="1" dirty="0">
                <a:solidFill>
                  <a:srgbClr val="E2E6E9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COUNT</a:t>
            </a:r>
            <a:r>
              <a:rPr lang="en-US" sz="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, </a:t>
            </a:r>
            <a:r>
              <a:rPr lang="en-US" sz="600" b="1" dirty="0">
                <a:solidFill>
                  <a:srgbClr val="E2E6E9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SUM</a:t>
            </a:r>
            <a:r>
              <a:rPr lang="en-US" sz="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, </a:t>
            </a:r>
            <a:r>
              <a:rPr lang="en-US" sz="600" b="1" dirty="0">
                <a:solidFill>
                  <a:srgbClr val="E2E6E9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AVG</a:t>
            </a:r>
            <a:endParaRPr lang="en-US" sz="600" dirty="0"/>
          </a:p>
        </p:txBody>
      </p:sp>
      <p:sp>
        <p:nvSpPr>
          <p:cNvPr id="9" name="Text 5"/>
          <p:cNvSpPr/>
          <p:nvPr/>
        </p:nvSpPr>
        <p:spPr>
          <a:xfrm>
            <a:off x="4757440" y="2028527"/>
            <a:ext cx="3764831" cy="3046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21920" indent="-121920" algn="l">
              <a:lnSpc>
                <a:spcPct val="100000"/>
              </a:lnSpc>
              <a:buSzPct val="100000"/>
              <a:buChar char="•"/>
            </a:pPr>
            <a:r>
              <a:rPr lang="en-US" sz="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Filter match or player records</a:t>
            </a:r>
            <a:endParaRPr lang="en-US" sz="600" dirty="0"/>
          </a:p>
          <a:p>
            <a:pPr marL="121920" indent="-121920" algn="l">
              <a:lnSpc>
                <a:spcPct val="100000"/>
              </a:lnSpc>
              <a:buSzPct val="100000"/>
              <a:buChar char="•"/>
            </a:pPr>
            <a:r>
              <a:rPr lang="en-US" sz="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Summarize goals, assists, and appearances</a:t>
            </a:r>
            <a:endParaRPr lang="en-US" sz="600" dirty="0"/>
          </a:p>
          <a:p>
            <a:pPr marL="121920" indent="-121920" algn="l">
              <a:lnSpc>
                <a:spcPct val="100000"/>
              </a:lnSpc>
              <a:buSzPct val="100000"/>
              <a:buChar char="•"/>
            </a:pPr>
            <a:r>
              <a:rPr lang="en-US" sz="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Compare averages across clubs or seasons</a:t>
            </a:r>
            <a:endParaRPr lang="en-US" sz="6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70823" y="2458343"/>
            <a:ext cx="3514532" cy="957039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757440" y="2737768"/>
            <a:ext cx="3764831" cy="1205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Advanced SQL</a:t>
            </a:r>
            <a:endParaRPr lang="en-US" sz="750" dirty="0"/>
          </a:p>
        </p:txBody>
      </p:sp>
      <p:sp>
        <p:nvSpPr>
          <p:cNvPr id="12" name="Text 7"/>
          <p:cNvSpPr/>
          <p:nvPr/>
        </p:nvSpPr>
        <p:spPr>
          <a:xfrm>
            <a:off x="4757440" y="2896865"/>
            <a:ext cx="3764831" cy="92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00" b="1" dirty="0">
                <a:solidFill>
                  <a:srgbClr val="E2E6E9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RANK()</a:t>
            </a:r>
            <a:r>
              <a:rPr lang="en-US" sz="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, </a:t>
            </a:r>
            <a:r>
              <a:rPr lang="en-US" sz="600" b="1" dirty="0">
                <a:solidFill>
                  <a:srgbClr val="E2E6E9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ROW_NUMBER()</a:t>
            </a:r>
            <a:r>
              <a:rPr lang="en-US" sz="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, </a:t>
            </a:r>
            <a:r>
              <a:rPr lang="en-US" sz="600" b="1" dirty="0">
                <a:solidFill>
                  <a:srgbClr val="E2E6E9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DENSE_RANK()</a:t>
            </a:r>
            <a:r>
              <a:rPr lang="en-US" sz="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, </a:t>
            </a:r>
            <a:r>
              <a:rPr lang="en-US" sz="600" b="1" dirty="0">
                <a:solidFill>
                  <a:srgbClr val="E2E6E9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WITH CTEs</a:t>
            </a:r>
            <a:r>
              <a:rPr lang="en-US" sz="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, </a:t>
            </a:r>
            <a:r>
              <a:rPr lang="en-US" sz="600" b="1" dirty="0">
                <a:solidFill>
                  <a:srgbClr val="E2E6E9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Subqueries</a:t>
            </a:r>
            <a:r>
              <a:rPr lang="en-US" sz="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, </a:t>
            </a:r>
            <a:r>
              <a:rPr lang="en-US" sz="600" b="1" dirty="0">
                <a:solidFill>
                  <a:srgbClr val="E2E6E9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CASE WHEN</a:t>
            </a:r>
            <a:endParaRPr lang="en-US" sz="600" dirty="0"/>
          </a:p>
        </p:txBody>
      </p:sp>
      <p:sp>
        <p:nvSpPr>
          <p:cNvPr id="13" name="Text 8"/>
          <p:cNvSpPr/>
          <p:nvPr/>
        </p:nvSpPr>
        <p:spPr>
          <a:xfrm>
            <a:off x="4757440" y="3024113"/>
            <a:ext cx="3764831" cy="3046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21920" indent="-121920" algn="l">
              <a:lnSpc>
                <a:spcPct val="100000"/>
              </a:lnSpc>
              <a:buSzPct val="100000"/>
              <a:buChar char="•"/>
            </a:pPr>
            <a:r>
              <a:rPr lang="en-US" sz="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Rank players by performance metrics</a:t>
            </a:r>
            <a:endParaRPr lang="en-US" sz="600" dirty="0"/>
          </a:p>
          <a:p>
            <a:pPr marL="121920" indent="-121920" algn="l">
              <a:lnSpc>
                <a:spcPct val="100000"/>
              </a:lnSpc>
              <a:buSzPct val="100000"/>
              <a:buChar char="•"/>
            </a:pPr>
            <a:r>
              <a:rPr lang="en-US" sz="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Build reusable query steps with CTEs</a:t>
            </a:r>
            <a:endParaRPr lang="en-US" sz="600" dirty="0"/>
          </a:p>
          <a:p>
            <a:pPr marL="121920" indent="-121920" algn="l">
              <a:lnSpc>
                <a:spcPct val="100000"/>
              </a:lnSpc>
              <a:buSzPct val="100000"/>
              <a:buChar char="•"/>
            </a:pPr>
            <a:r>
              <a:rPr lang="en-US" sz="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Create conditional logic for categories and insights</a:t>
            </a:r>
            <a:endParaRPr lang="en-US" sz="6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70822" y="3453929"/>
            <a:ext cx="3566153" cy="957039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757440" y="3733354"/>
            <a:ext cx="3764831" cy="1205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Data Management</a:t>
            </a:r>
            <a:endParaRPr lang="en-US" sz="750" dirty="0"/>
          </a:p>
        </p:txBody>
      </p:sp>
      <p:sp>
        <p:nvSpPr>
          <p:cNvPr id="16" name="Text 10"/>
          <p:cNvSpPr/>
          <p:nvPr/>
        </p:nvSpPr>
        <p:spPr>
          <a:xfrm>
            <a:off x="4757440" y="3892451"/>
            <a:ext cx="3764831" cy="92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00" b="1" dirty="0">
                <a:solidFill>
                  <a:srgbClr val="E2E6E9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CREATE TABLE</a:t>
            </a:r>
            <a:r>
              <a:rPr lang="en-US" sz="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, </a:t>
            </a:r>
            <a:r>
              <a:rPr lang="en-US" sz="600" b="1" dirty="0">
                <a:solidFill>
                  <a:srgbClr val="E2E6E9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PRIMARY KEY</a:t>
            </a:r>
            <a:r>
              <a:rPr lang="en-US" sz="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, </a:t>
            </a:r>
            <a:r>
              <a:rPr lang="en-US" sz="600" b="1" dirty="0">
                <a:solidFill>
                  <a:srgbClr val="E2E6E9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FOREIGN KEY</a:t>
            </a:r>
            <a:r>
              <a:rPr lang="en-US" sz="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, </a:t>
            </a:r>
            <a:r>
              <a:rPr lang="en-US" sz="600" b="1" dirty="0">
                <a:solidFill>
                  <a:srgbClr val="E2E6E9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Data Types</a:t>
            </a:r>
            <a:endParaRPr lang="en-US" sz="600" dirty="0"/>
          </a:p>
        </p:txBody>
      </p:sp>
      <p:sp>
        <p:nvSpPr>
          <p:cNvPr id="17" name="Text 11"/>
          <p:cNvSpPr/>
          <p:nvPr/>
        </p:nvSpPr>
        <p:spPr>
          <a:xfrm>
            <a:off x="4757440" y="4019699"/>
            <a:ext cx="3764831" cy="3046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21920" indent="-121920" algn="l">
              <a:lnSpc>
                <a:spcPct val="100000"/>
              </a:lnSpc>
              <a:buSzPct val="100000"/>
              <a:buChar char="•"/>
            </a:pPr>
            <a:r>
              <a:rPr lang="en-US" sz="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Design structured tables for analysis</a:t>
            </a:r>
            <a:endParaRPr lang="en-US" sz="600" dirty="0"/>
          </a:p>
          <a:p>
            <a:pPr marL="121920" indent="-121920" algn="l">
              <a:lnSpc>
                <a:spcPct val="100000"/>
              </a:lnSpc>
              <a:buSzPct val="100000"/>
              <a:buChar char="•"/>
            </a:pPr>
            <a:r>
              <a:rPr lang="en-US" sz="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Maintain relationships between datasets</a:t>
            </a:r>
            <a:endParaRPr lang="en-US" sz="600" dirty="0"/>
          </a:p>
          <a:p>
            <a:pPr marL="121920" indent="-121920" algn="l">
              <a:lnSpc>
                <a:spcPct val="100000"/>
              </a:lnSpc>
              <a:buSzPct val="100000"/>
              <a:buChar char="•"/>
            </a:pPr>
            <a:r>
              <a:rPr lang="en-US" sz="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Use the right field types for</a:t>
            </a:r>
            <a:endParaRPr lang="en-US" sz="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9874" y="442168"/>
            <a:ext cx="8064252" cy="467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Sample SQL Queries</a:t>
            </a:r>
            <a:endParaRPr lang="en-US" sz="29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9874" y="1126331"/>
            <a:ext cx="3959721" cy="183371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84547" y="1294805"/>
            <a:ext cx="3546574" cy="233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1.Player Categorize (CASE)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784547" y="1615083"/>
            <a:ext cx="3546574" cy="11764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1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Classifies players as Elite/Good/Avg/Poor by rating, Superstar/World Class/Valuable/Budget Player by market value, and Young/Prime/Veteran by age — three CASE statements in one query.</a:t>
            </a:r>
            <a:endParaRPr lang="en-US" sz="11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44330" y="1126331"/>
            <a:ext cx="3959796" cy="183371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889004" y="1294805"/>
            <a:ext cx="3546649" cy="4668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2.Most Expensive per Position (Subquery)</a:t>
            </a:r>
            <a:endParaRPr lang="en-US" sz="1450" dirty="0"/>
          </a:p>
        </p:txBody>
      </p:sp>
      <p:sp>
        <p:nvSpPr>
          <p:cNvPr id="8" name="Text 4"/>
          <p:cNvSpPr/>
          <p:nvPr/>
        </p:nvSpPr>
        <p:spPr>
          <a:xfrm>
            <a:off x="4889004" y="1848520"/>
            <a:ext cx="3546649" cy="4705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1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Uses a correlated subquery to find the highest-valued player in each playing position.</a:t>
            </a:r>
            <a:endParaRPr lang="en-US" sz="11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9874" y="3104778"/>
            <a:ext cx="3959721" cy="159655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84547" y="3273251"/>
            <a:ext cx="3546574" cy="233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3.Potential Gap Analysis (CTE)</a:t>
            </a:r>
            <a:endParaRPr lang="en-US" sz="1450" dirty="0"/>
          </a:p>
        </p:txBody>
      </p:sp>
      <p:sp>
        <p:nvSpPr>
          <p:cNvPr id="11" name="Text 6"/>
          <p:cNvSpPr/>
          <p:nvPr/>
        </p:nvSpPr>
        <p:spPr>
          <a:xfrm>
            <a:off x="784547" y="3593529"/>
            <a:ext cx="3546574" cy="7058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1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CTE calculates (potential − overall) gap; outer query identifies players with the largest improvement room.</a:t>
            </a:r>
            <a:endParaRPr lang="en-US" sz="11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44330" y="3104778"/>
            <a:ext cx="3959796" cy="159655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889004" y="3273251"/>
            <a:ext cx="3546649" cy="4668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4.Top Scorers per Club (Window Function)</a:t>
            </a:r>
            <a:endParaRPr lang="en-US" sz="1450" dirty="0"/>
          </a:p>
        </p:txBody>
      </p:sp>
      <p:sp>
        <p:nvSpPr>
          <p:cNvPr id="14" name="Text 8"/>
          <p:cNvSpPr/>
          <p:nvPr/>
        </p:nvSpPr>
        <p:spPr>
          <a:xfrm>
            <a:off x="4889004" y="3826966"/>
            <a:ext cx="3546649" cy="7058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1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ROW_NUMBER() OVER(PARTITION BY club ORDER BY goals DESC) ranks players to find top 2 scorers per club.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9874" y="469106"/>
            <a:ext cx="8064252" cy="2861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Sample SQL Query </a:t>
            </a:r>
            <a:r>
              <a:rPr lang="en-US" sz="1800" dirty="0" err="1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Exceution</a:t>
            </a:r>
            <a:r>
              <a:rPr lang="en-US" sz="18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and Output  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39874" y="885751"/>
            <a:ext cx="4543351" cy="116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7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1. Player Categorization (CASE)</a:t>
            </a:r>
            <a:endParaRPr lang="en-US" sz="7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555" y="1063675"/>
            <a:ext cx="3170904" cy="168979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854178" y="885751"/>
            <a:ext cx="4211836" cy="116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7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2. Most Expensive per Position (Subquery)</a:t>
            </a:r>
            <a:endParaRPr lang="en-US" sz="7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2329" y="1091328"/>
            <a:ext cx="3050958" cy="168979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39874" y="2753469"/>
            <a:ext cx="8521452" cy="116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endParaRPr lang="en-US" sz="700" dirty="0"/>
          </a:p>
        </p:txBody>
      </p:sp>
      <p:sp>
        <p:nvSpPr>
          <p:cNvPr id="8" name="Text 4"/>
          <p:cNvSpPr/>
          <p:nvPr/>
        </p:nvSpPr>
        <p:spPr>
          <a:xfrm>
            <a:off x="539874" y="2980283"/>
            <a:ext cx="4543351" cy="116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7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3. Potential Gap Analysis (CTE)</a:t>
            </a:r>
            <a:endParaRPr lang="en-US" sz="7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874" y="3207097"/>
            <a:ext cx="3272585" cy="174563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854178" y="2980283"/>
            <a:ext cx="4211836" cy="116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7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4. Top Scorers per Club (Window Function)</a:t>
            </a:r>
            <a:endParaRPr lang="en-US" sz="7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92329" y="3158207"/>
            <a:ext cx="3104536" cy="174563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9874" y="470743"/>
            <a:ext cx="8064252" cy="369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Business Questions</a:t>
            </a:r>
            <a:endParaRPr lang="en-US" sz="23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9874" y="1020663"/>
            <a:ext cx="295275" cy="29527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39874" y="1428973"/>
            <a:ext cx="3975571" cy="184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Clubs with total market value above €30000 million</a:t>
            </a:r>
            <a:endParaRPr lang="en-US" sz="11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28480" y="1020663"/>
            <a:ext cx="295275" cy="29527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628480" y="1428973"/>
            <a:ext cx="3975646" cy="369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Players more valuable than the average player in the club</a:t>
            </a:r>
            <a:endParaRPr lang="en-US" sz="11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39874" y="1978893"/>
            <a:ext cx="295275" cy="29527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39874" y="2387203"/>
            <a:ext cx="3975571" cy="184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Most expensive player in each playing position</a:t>
            </a:r>
            <a:endParaRPr lang="en-US" sz="115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28480" y="1978893"/>
            <a:ext cx="295275" cy="295275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4628480" y="2387203"/>
            <a:ext cx="3975646" cy="369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Players with the largest gap between potential and overall rating</a:t>
            </a:r>
            <a:endParaRPr lang="en-US" sz="115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39874" y="2937123"/>
            <a:ext cx="295275" cy="295275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539874" y="3345433"/>
            <a:ext cx="3975571" cy="369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Clubs with average market value greater than €90 million</a:t>
            </a:r>
            <a:endParaRPr lang="en-US" sz="1150" dirty="0"/>
          </a:p>
        </p:txBody>
      </p:sp>
      <p:pic>
        <p:nvPicPr>
          <p:cNvPr id="13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28480" y="2937123"/>
            <a:ext cx="295275" cy="295275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4628480" y="3345433"/>
            <a:ext cx="3975646" cy="369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Clubs spending more than €200 million on injury-prone players</a:t>
            </a:r>
            <a:endParaRPr lang="en-US" sz="1150" dirty="0"/>
          </a:p>
        </p:txBody>
      </p:sp>
      <p:pic>
        <p:nvPicPr>
          <p:cNvPr id="15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39874" y="3895353"/>
            <a:ext cx="295275" cy="295275"/>
          </a:xfrm>
          <a:prstGeom prst="rect">
            <a:avLst/>
          </a:prstGeom>
        </p:spPr>
      </p:pic>
      <p:sp>
        <p:nvSpPr>
          <p:cNvPr id="16" name="Text 7"/>
          <p:cNvSpPr/>
          <p:nvPr/>
        </p:nvSpPr>
        <p:spPr>
          <a:xfrm>
            <a:off x="539874" y="4303663"/>
            <a:ext cx="3975571" cy="184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Second highest-rated player in each club</a:t>
            </a:r>
            <a:endParaRPr lang="en-US" sz="1150" dirty="0"/>
          </a:p>
        </p:txBody>
      </p:sp>
      <p:pic>
        <p:nvPicPr>
          <p:cNvPr id="17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628480" y="3895353"/>
            <a:ext cx="295275" cy="295275"/>
          </a:xfrm>
          <a:prstGeom prst="rect">
            <a:avLst/>
          </a:prstGeom>
        </p:spPr>
      </p:pic>
      <p:sp>
        <p:nvSpPr>
          <p:cNvPr id="18" name="Text 8"/>
          <p:cNvSpPr/>
          <p:nvPr/>
        </p:nvSpPr>
        <p:spPr>
          <a:xfrm>
            <a:off x="4628480" y="4303663"/>
            <a:ext cx="3975646" cy="369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Players whose market value is higher than the previous player in their club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9874" y="698004"/>
            <a:ext cx="8064252" cy="4820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Key Insights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39874" y="1488579"/>
            <a:ext cx="2585219" cy="1648048"/>
          </a:xfrm>
          <a:prstGeom prst="roundRect">
            <a:avLst>
              <a:gd name="adj" fmla="val 3932"/>
            </a:avLst>
          </a:prstGeom>
          <a:solidFill>
            <a:srgbClr val="003180"/>
          </a:solidFill>
          <a:ln w="9525">
            <a:solidFill>
              <a:srgbClr val="194A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03659" y="1652364"/>
            <a:ext cx="2257648" cy="240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📈</a:t>
            </a:r>
            <a:r>
              <a:rPr lang="en-US" sz="15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Young Talent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03659" y="1985814"/>
            <a:ext cx="2257648" cy="9870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Young players show the highest improvement potential — early signing maximizes ROI.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79353" y="1488579"/>
            <a:ext cx="2585219" cy="1648048"/>
          </a:xfrm>
          <a:prstGeom prst="roundRect">
            <a:avLst>
              <a:gd name="adj" fmla="val 3932"/>
            </a:avLst>
          </a:prstGeom>
          <a:solidFill>
            <a:srgbClr val="003180"/>
          </a:solidFill>
          <a:ln w="9525">
            <a:solidFill>
              <a:srgbClr val="194A9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43139" y="1652364"/>
            <a:ext cx="2257648" cy="240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💰</a:t>
            </a:r>
            <a:r>
              <a:rPr lang="en-US" sz="15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Undervalued Gems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443139" y="1985814"/>
            <a:ext cx="2257648" cy="7402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Several high-performing players are undervalued in the transfer market.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18833" y="1488579"/>
            <a:ext cx="2585219" cy="1648048"/>
          </a:xfrm>
          <a:prstGeom prst="roundRect">
            <a:avLst>
              <a:gd name="adj" fmla="val 3932"/>
            </a:avLst>
          </a:prstGeom>
          <a:solidFill>
            <a:srgbClr val="003180"/>
          </a:solidFill>
          <a:ln w="9525">
            <a:solidFill>
              <a:srgbClr val="194A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82618" y="1652364"/>
            <a:ext cx="2257648" cy="240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⚠️</a:t>
            </a:r>
            <a:r>
              <a:rPr lang="en-US" sz="15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Injury Risk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182618" y="1985814"/>
            <a:ext cx="2257648" cy="9870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Injury-prone players represent significant financial risk; some clubs invest heavily in them.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39874" y="3290888"/>
            <a:ext cx="3954959" cy="1154534"/>
          </a:xfrm>
          <a:prstGeom prst="roundRect">
            <a:avLst>
              <a:gd name="adj" fmla="val 5612"/>
            </a:avLst>
          </a:prstGeom>
          <a:solidFill>
            <a:srgbClr val="003180"/>
          </a:solidFill>
          <a:ln w="9525">
            <a:solidFill>
              <a:srgbClr val="194A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3659" y="3454673"/>
            <a:ext cx="3627388" cy="240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📄</a:t>
            </a:r>
            <a:r>
              <a:rPr lang="en-US" sz="15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Contract Risk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03659" y="3788122"/>
            <a:ext cx="3627388" cy="493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Players nearing contract expiration increase transfer risk and reduce asset value.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649093" y="3290888"/>
            <a:ext cx="3954959" cy="1154534"/>
          </a:xfrm>
          <a:prstGeom prst="roundRect">
            <a:avLst>
              <a:gd name="adj" fmla="val 5612"/>
            </a:avLst>
          </a:prstGeom>
          <a:solidFill>
            <a:srgbClr val="003180"/>
          </a:solidFill>
          <a:ln w="9525">
            <a:solidFill>
              <a:srgbClr val="194A9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12878" y="3454673"/>
            <a:ext cx="3627388" cy="240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🎯</a:t>
            </a:r>
            <a:r>
              <a:rPr lang="en-US" sz="15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Efficiency Metrics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812878" y="3788122"/>
            <a:ext cx="3627388" cy="493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Goals per 90 minutes reveal hidden high-impact performers beyond total goals.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9874" y="495077"/>
            <a:ext cx="8064252" cy="436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Business Recommendations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539874" y="1185342"/>
            <a:ext cx="314548" cy="314548"/>
          </a:xfrm>
          <a:prstGeom prst="roundRect">
            <a:avLst>
              <a:gd name="adj" fmla="val 18668"/>
            </a:avLst>
          </a:prstGeom>
          <a:solidFill>
            <a:srgbClr val="003180"/>
          </a:solidFill>
          <a:ln w="4763">
            <a:solidFill>
              <a:srgbClr val="194A99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2262" y="1237729"/>
            <a:ext cx="209699" cy="20969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81075" y="1233339"/>
            <a:ext cx="2141265" cy="436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🎯</a:t>
            </a:r>
            <a:r>
              <a:rPr lang="en-US" sz="13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Scout High-Potential Youth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981075" y="1746126"/>
            <a:ext cx="2141265" cy="639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Sign players with large improvement gaps before their value rises.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3280693" y="1185342"/>
            <a:ext cx="314548" cy="314548"/>
          </a:xfrm>
          <a:prstGeom prst="roundRect">
            <a:avLst>
              <a:gd name="adj" fmla="val 18668"/>
            </a:avLst>
          </a:prstGeom>
          <a:solidFill>
            <a:srgbClr val="003180"/>
          </a:solidFill>
          <a:ln w="4763">
            <a:solidFill>
              <a:srgbClr val="194A99"/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33080" y="1237729"/>
            <a:ext cx="209699" cy="20969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721894" y="1233339"/>
            <a:ext cx="2141339" cy="436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🔎</a:t>
            </a:r>
            <a:r>
              <a:rPr lang="en-US" sz="13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Target Undervalued Players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3721894" y="1746126"/>
            <a:ext cx="2141339" cy="639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Data-driven scouting improves squad quality while controlling spend.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6021586" y="1185342"/>
            <a:ext cx="314548" cy="314548"/>
          </a:xfrm>
          <a:prstGeom prst="roundRect">
            <a:avLst>
              <a:gd name="adj" fmla="val 18668"/>
            </a:avLst>
          </a:prstGeom>
          <a:solidFill>
            <a:srgbClr val="003180"/>
          </a:solidFill>
          <a:ln w="4763">
            <a:solidFill>
              <a:srgbClr val="194A99"/>
            </a:solidFill>
            <a:prstDash val="solid"/>
          </a:ln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73973" y="1237729"/>
            <a:ext cx="209699" cy="209699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462787" y="1233339"/>
            <a:ext cx="2141339" cy="436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🛡️</a:t>
            </a:r>
            <a:r>
              <a:rPr lang="en-US" sz="13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Reduce Injury-Risk Investment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6462787" y="1746126"/>
            <a:ext cx="2141339" cy="639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Factor injury history into transfer decisions; limit budget allocation to high-risk players.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539874" y="2639095"/>
            <a:ext cx="314548" cy="314548"/>
          </a:xfrm>
          <a:prstGeom prst="roundRect">
            <a:avLst>
              <a:gd name="adj" fmla="val 18668"/>
            </a:avLst>
          </a:prstGeom>
          <a:solidFill>
            <a:srgbClr val="003180"/>
          </a:solidFill>
          <a:ln w="4763">
            <a:solidFill>
              <a:srgbClr val="194A99"/>
            </a:solidFill>
            <a:prstDash val="solid"/>
          </a:ln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92262" y="2691482"/>
            <a:ext cx="209699" cy="209699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81075" y="2687092"/>
            <a:ext cx="2141265" cy="436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🤝</a:t>
            </a:r>
            <a:r>
              <a:rPr lang="en-US" sz="13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Renew Key Contracts Early</a:t>
            </a:r>
            <a:endParaRPr lang="en-US" sz="1350" dirty="0"/>
          </a:p>
        </p:txBody>
      </p:sp>
      <p:sp>
        <p:nvSpPr>
          <p:cNvPr id="18" name="Text 12"/>
          <p:cNvSpPr/>
          <p:nvPr/>
        </p:nvSpPr>
        <p:spPr>
          <a:xfrm>
            <a:off x="981075" y="3199879"/>
            <a:ext cx="2141265" cy="4263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Prioritize players with &lt;1 year left to protect club assets.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3280693" y="2639095"/>
            <a:ext cx="314548" cy="314548"/>
          </a:xfrm>
          <a:prstGeom prst="roundRect">
            <a:avLst>
              <a:gd name="adj" fmla="val 18668"/>
            </a:avLst>
          </a:prstGeom>
          <a:solidFill>
            <a:srgbClr val="003180"/>
          </a:solidFill>
          <a:ln w="4763">
            <a:solidFill>
              <a:srgbClr val="194A99"/>
            </a:solidFill>
            <a:prstDash val="solid"/>
          </a:ln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333080" y="2691482"/>
            <a:ext cx="209699" cy="209699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3721894" y="2687092"/>
            <a:ext cx="2141339" cy="218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📊</a:t>
            </a:r>
            <a:r>
              <a:rPr lang="en-US" sz="13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Use Efficiency Metrics</a:t>
            </a:r>
            <a:endParaRPr lang="en-US" sz="1350" dirty="0"/>
          </a:p>
        </p:txBody>
      </p:sp>
      <p:sp>
        <p:nvSpPr>
          <p:cNvPr id="22" name="Text 15"/>
          <p:cNvSpPr/>
          <p:nvPr/>
        </p:nvSpPr>
        <p:spPr>
          <a:xfrm>
            <a:off x="3721894" y="2981474"/>
            <a:ext cx="2141339" cy="639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Evaluate using goals/assists per 90 min for fair starter vs. substitute comparison.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6021586" y="2639095"/>
            <a:ext cx="314548" cy="314548"/>
          </a:xfrm>
          <a:prstGeom prst="roundRect">
            <a:avLst>
              <a:gd name="adj" fmla="val 18668"/>
            </a:avLst>
          </a:prstGeom>
          <a:solidFill>
            <a:srgbClr val="003180"/>
          </a:solidFill>
          <a:ln w="4763">
            <a:solidFill>
              <a:srgbClr val="194A99"/>
            </a:solidFill>
            <a:prstDash val="solid"/>
          </a:ln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073973" y="2691482"/>
            <a:ext cx="209699" cy="209699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6462787" y="2687092"/>
            <a:ext cx="2141339" cy="436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👥</a:t>
            </a:r>
            <a:r>
              <a:rPr lang="en-US" sz="13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Build Balanced Squads</a:t>
            </a:r>
            <a:endParaRPr lang="en-US" sz="1350" dirty="0"/>
          </a:p>
        </p:txBody>
      </p:sp>
      <p:sp>
        <p:nvSpPr>
          <p:cNvPr id="26" name="Text 18"/>
          <p:cNvSpPr/>
          <p:nvPr/>
        </p:nvSpPr>
        <p:spPr>
          <a:xfrm>
            <a:off x="6462787" y="3199879"/>
            <a:ext cx="2141339" cy="639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Depth over star dependency improves long-term competitiveness.</a:t>
            </a:r>
            <a:endParaRPr lang="en-US" sz="1100" dirty="0"/>
          </a:p>
        </p:txBody>
      </p:sp>
      <p:sp>
        <p:nvSpPr>
          <p:cNvPr id="27" name="Shape 19"/>
          <p:cNvSpPr/>
          <p:nvPr/>
        </p:nvSpPr>
        <p:spPr>
          <a:xfrm>
            <a:off x="539874" y="4092848"/>
            <a:ext cx="314548" cy="314548"/>
          </a:xfrm>
          <a:prstGeom prst="roundRect">
            <a:avLst>
              <a:gd name="adj" fmla="val 18668"/>
            </a:avLst>
          </a:prstGeom>
          <a:solidFill>
            <a:srgbClr val="003180"/>
          </a:solidFill>
          <a:ln w="4763">
            <a:solidFill>
              <a:srgbClr val="194A99"/>
            </a:solidFill>
            <a:prstDash val="solid"/>
          </a:ln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92262" y="4145235"/>
            <a:ext cx="209699" cy="209699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981075" y="4140845"/>
            <a:ext cx="7623051" cy="218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🧠</a:t>
            </a:r>
            <a:r>
              <a:rPr lang="en-US" sz="13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Analytics for Transfers</a:t>
            </a:r>
            <a:endParaRPr lang="en-US" sz="1350" dirty="0"/>
          </a:p>
        </p:txBody>
      </p:sp>
      <p:sp>
        <p:nvSpPr>
          <p:cNvPr id="30" name="Text 21"/>
          <p:cNvSpPr/>
          <p:nvPr/>
        </p:nvSpPr>
        <p:spPr>
          <a:xfrm>
            <a:off x="981075" y="4435227"/>
            <a:ext cx="7623051" cy="2131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Combine ratings, value, age, potential &amp; injury history to reduce transfer risk.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9874" y="477589"/>
            <a:ext cx="8064252" cy="414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Project Structure &amp; How to Run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9874" y="1176635"/>
            <a:ext cx="3870424" cy="207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Repository Structure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39874" y="1511871"/>
            <a:ext cx="3870424" cy="3025825"/>
          </a:xfrm>
          <a:prstGeom prst="roundRect">
            <a:avLst>
              <a:gd name="adj" fmla="val 1840"/>
            </a:avLst>
          </a:prstGeom>
          <a:solidFill>
            <a:srgbClr val="162227"/>
          </a:solidFill>
          <a:ln/>
        </p:spPr>
      </p:sp>
      <p:sp>
        <p:nvSpPr>
          <p:cNvPr id="5" name="Shape 3"/>
          <p:cNvSpPr/>
          <p:nvPr/>
        </p:nvSpPr>
        <p:spPr>
          <a:xfrm>
            <a:off x="533251" y="1511871"/>
            <a:ext cx="3883670" cy="3025825"/>
          </a:xfrm>
          <a:prstGeom prst="roundRect">
            <a:avLst>
              <a:gd name="adj" fmla="val 657"/>
            </a:avLst>
          </a:prstGeom>
          <a:solidFill>
            <a:srgbClr val="162227"/>
          </a:solidFill>
          <a:ln/>
        </p:spPr>
      </p:sp>
      <p:sp>
        <p:nvSpPr>
          <p:cNvPr id="6" name="Text 4"/>
          <p:cNvSpPr/>
          <p:nvPr/>
        </p:nvSpPr>
        <p:spPr>
          <a:xfrm>
            <a:off x="698897" y="1644402"/>
            <a:ext cx="3552379" cy="27607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000" dirty="0">
                <a:solidFill>
                  <a:srgbClr val="E2E6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fifa-player-performance-analysis-sql/</a:t>
            </a:r>
            <a:endParaRPr lang="en-US" sz="1000" dirty="0"/>
          </a:p>
          <a:p>
            <a:pPr marL="0" indent="0" algn="l">
              <a:lnSpc>
                <a:spcPct val="124000"/>
              </a:lnSpc>
              <a:buNone/>
            </a:pPr>
            <a:r>
              <a:rPr lang="en-US" sz="1000" dirty="0">
                <a:solidFill>
                  <a:srgbClr val="E2E6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README.md</a:t>
            </a:r>
            <a:endParaRPr lang="en-US" sz="1000" dirty="0"/>
          </a:p>
          <a:p>
            <a:pPr marL="0" indent="0" algn="l">
              <a:lnSpc>
                <a:spcPct val="124000"/>
              </a:lnSpc>
              <a:buNone/>
            </a:pPr>
            <a:r>
              <a:rPr lang="en-US" sz="1000" dirty="0">
                <a:solidFill>
                  <a:srgbClr val="E2E6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dataset/</a:t>
            </a:r>
            <a:endParaRPr lang="en-US" sz="1000" dirty="0"/>
          </a:p>
          <a:p>
            <a:pPr marL="0" indent="0" algn="l">
              <a:lnSpc>
                <a:spcPct val="124000"/>
              </a:lnSpc>
              <a:buNone/>
            </a:pPr>
            <a:r>
              <a:rPr lang="en-US" sz="1000" dirty="0">
                <a:solidFill>
                  <a:srgbClr val="E2E6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fifa_player_performance_analysis.csv</a:t>
            </a:r>
            <a:endParaRPr lang="en-US" sz="1000" dirty="0"/>
          </a:p>
          <a:p>
            <a:pPr marL="0" indent="0" algn="l">
              <a:lnSpc>
                <a:spcPct val="124000"/>
              </a:lnSpc>
              <a:buNone/>
            </a:pPr>
            <a:r>
              <a:rPr lang="en-US" sz="1000" dirty="0">
                <a:solidFill>
                  <a:srgbClr val="E2E6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sql_queries/</a:t>
            </a:r>
            <a:endParaRPr lang="en-US" sz="1000" dirty="0"/>
          </a:p>
          <a:p>
            <a:pPr marL="0" indent="0" algn="l">
              <a:lnSpc>
                <a:spcPct val="124000"/>
              </a:lnSpc>
              <a:buNone/>
            </a:pPr>
            <a:r>
              <a:rPr lang="en-US" sz="1000" dirty="0">
                <a:solidFill>
                  <a:srgbClr val="E2E6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player_analysis.sql</a:t>
            </a:r>
            <a:endParaRPr lang="en-US" sz="1000" dirty="0"/>
          </a:p>
          <a:p>
            <a:pPr marL="0" indent="0" algn="l">
              <a:lnSpc>
                <a:spcPct val="124000"/>
              </a:lnSpc>
              <a:buNone/>
            </a:pPr>
            <a:r>
              <a:rPr lang="en-US" sz="1000" dirty="0">
                <a:solidFill>
                  <a:srgbClr val="E2E6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data_cleaning.sql</a:t>
            </a:r>
            <a:endParaRPr lang="en-US" sz="1000" dirty="0"/>
          </a:p>
          <a:p>
            <a:pPr marL="0" indent="0" algn="l">
              <a:lnSpc>
                <a:spcPct val="124000"/>
              </a:lnSpc>
              <a:buNone/>
            </a:pPr>
            <a:r>
              <a:rPr lang="en-US" sz="1000" dirty="0">
                <a:solidFill>
                  <a:srgbClr val="E2E6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eda.sql</a:t>
            </a:r>
            <a:endParaRPr lang="en-US" sz="1000" dirty="0"/>
          </a:p>
          <a:p>
            <a:pPr marL="0" indent="0" algn="l">
              <a:lnSpc>
                <a:spcPct val="124000"/>
              </a:lnSpc>
              <a:buNone/>
            </a:pPr>
            <a:r>
              <a:rPr lang="en-US" sz="1000" dirty="0">
                <a:solidFill>
                  <a:srgbClr val="E2E6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business_questions.sql</a:t>
            </a:r>
            <a:endParaRPr lang="en-US" sz="1000" dirty="0"/>
          </a:p>
          <a:p>
            <a:pPr marL="0" indent="0" algn="l">
              <a:lnSpc>
                <a:spcPct val="124000"/>
              </a:lnSpc>
              <a:buNone/>
            </a:pPr>
            <a:r>
              <a:rPr lang="en-US" sz="1000" dirty="0">
                <a:solidFill>
                  <a:srgbClr val="E2E6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advanced_queries.sql</a:t>
            </a:r>
            <a:endParaRPr lang="en-US" sz="1000" dirty="0"/>
          </a:p>
          <a:p>
            <a:pPr marL="0" indent="0" algn="l">
              <a:lnSpc>
                <a:spcPct val="124000"/>
              </a:lnSpc>
              <a:buNone/>
            </a:pPr>
            <a:r>
              <a:rPr lang="en-US" sz="1000" dirty="0">
                <a:solidFill>
                  <a:srgbClr val="E2E6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docs/</a:t>
            </a:r>
            <a:endParaRPr lang="en-US" sz="1000" dirty="0"/>
          </a:p>
          <a:p>
            <a:pPr marL="0" indent="0" algn="l">
              <a:lnSpc>
                <a:spcPct val="124000"/>
              </a:lnSpc>
              <a:buNone/>
            </a:pPr>
            <a:r>
              <a:rPr lang="en-US" sz="1000" dirty="0">
                <a:solidFill>
                  <a:srgbClr val="E2E6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FIFA_Player_Performance_Analysis_Report.pdf</a:t>
            </a:r>
            <a:endParaRPr lang="en-US" sz="1000" dirty="0"/>
          </a:p>
          <a:p>
            <a:pPr marL="0" indent="0" algn="l">
              <a:lnSpc>
                <a:spcPct val="124000"/>
              </a:lnSpc>
              <a:buNone/>
            </a:pPr>
            <a:r>
              <a:rPr lang="en-US" sz="1000" dirty="0">
                <a:solidFill>
                  <a:srgbClr val="E2E6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FIFA_Player_Performance_Analysis_Presentation.pdf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738464" y="1176635"/>
            <a:ext cx="3870424" cy="207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Steps to Run</a:t>
            </a:r>
            <a:endParaRPr lang="en-US" sz="13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88173" y="1518493"/>
            <a:ext cx="198834" cy="19883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169247" y="1511871"/>
            <a:ext cx="3439641" cy="1971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0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Clone the repo from GitHub</a:t>
            </a:r>
            <a:endParaRPr lang="en-US" sz="10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88173" y="2150641"/>
            <a:ext cx="198834" cy="19883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169247" y="2144018"/>
            <a:ext cx="3439641" cy="1971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0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Open PostgreSQL and create a new database</a:t>
            </a:r>
            <a:endParaRPr lang="en-US" sz="10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88173" y="2782788"/>
            <a:ext cx="198834" cy="19883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169247" y="2776165"/>
            <a:ext cx="3439641" cy="1971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0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Import the CSV dataset</a:t>
            </a:r>
            <a:endParaRPr lang="en-US" sz="10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88173" y="3414936"/>
            <a:ext cx="198834" cy="198834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169247" y="3408313"/>
            <a:ext cx="3439641" cy="1971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0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Execute the SQL scripts</a:t>
            </a:r>
            <a:endParaRPr lang="en-US" sz="10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788173" y="4047083"/>
            <a:ext cx="198834" cy="198834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5169247" y="4040460"/>
            <a:ext cx="3439641" cy="1971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0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Review insights, report &amp; presentation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9874" y="459135"/>
            <a:ext cx="8064252" cy="451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Conclusion &amp; What's Next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9874" y="1114425"/>
            <a:ext cx="8064252" cy="4484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This project demonstrated how </a:t>
            </a:r>
            <a:r>
              <a:rPr lang="en-US" sz="1100" b="1" dirty="0">
                <a:solidFill>
                  <a:srgbClr val="F5A3A3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SQL &amp; PostgreSQL</a:t>
            </a:r>
            <a:r>
              <a:rPr lang="en-US" sz="11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can drive real-world football analytics — from scouting and transfers to contract management and squad planning.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39874" y="1715319"/>
            <a:ext cx="8064252" cy="2968972"/>
          </a:xfrm>
          <a:prstGeom prst="roundRect">
            <a:avLst>
              <a:gd name="adj" fmla="val 2046"/>
            </a:avLst>
          </a:prstGeom>
          <a:solidFill>
            <a:srgbClr val="003180"/>
          </a:solidFill>
          <a:ln w="4763">
            <a:solidFill>
              <a:srgbClr val="194A9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4637" y="1720081"/>
            <a:ext cx="4027363" cy="2959447"/>
          </a:xfrm>
          <a:prstGeom prst="rect">
            <a:avLst/>
          </a:prstGeom>
          <a:solidFill>
            <a:srgbClr val="003180"/>
          </a:solidFill>
          <a:ln/>
        </p:spPr>
      </p:sp>
      <p:sp>
        <p:nvSpPr>
          <p:cNvPr id="6" name="Text 4"/>
          <p:cNvSpPr/>
          <p:nvPr/>
        </p:nvSpPr>
        <p:spPr>
          <a:xfrm>
            <a:off x="689223" y="1864668"/>
            <a:ext cx="3738190" cy="225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Skills Demonstrated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9223" y="2171923"/>
            <a:ext cx="3738190" cy="2363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9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SQL. </a:t>
            </a:r>
            <a:endParaRPr lang="en-US" sz="1100" dirty="0"/>
          </a:p>
          <a:p>
            <a:pPr marL="0" indent="0" algn="l">
              <a:lnSpc>
                <a:spcPct val="129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PostgreSQL</a:t>
            </a:r>
            <a:endParaRPr lang="en-US" sz="1100" dirty="0"/>
          </a:p>
          <a:p>
            <a:pPr marL="0" indent="0" algn="l">
              <a:lnSpc>
                <a:spcPct val="129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EDA.</a:t>
            </a:r>
            <a:endParaRPr lang="en-US" sz="1100" dirty="0"/>
          </a:p>
          <a:p>
            <a:pPr marL="0" indent="0" algn="l">
              <a:lnSpc>
                <a:spcPct val="129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Data Cleaning.</a:t>
            </a:r>
            <a:endParaRPr lang="en-US" sz="1100" dirty="0"/>
          </a:p>
          <a:p>
            <a:pPr marL="0" indent="0" algn="l">
              <a:lnSpc>
                <a:spcPct val="129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Window Functions.</a:t>
            </a:r>
            <a:endParaRPr lang="en-US" sz="1100" dirty="0"/>
          </a:p>
          <a:p>
            <a:pPr marL="0" indent="0" algn="l">
              <a:lnSpc>
                <a:spcPct val="129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CTEs.</a:t>
            </a:r>
            <a:endParaRPr lang="en-US" sz="1100" dirty="0"/>
          </a:p>
          <a:p>
            <a:pPr marL="0" indent="0" algn="l">
              <a:lnSpc>
                <a:spcPct val="129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Business Analysis.</a:t>
            </a:r>
            <a:endParaRPr lang="en-US" sz="1100" dirty="0"/>
          </a:p>
          <a:p>
            <a:pPr marL="0" indent="0" algn="l">
              <a:lnSpc>
                <a:spcPct val="12900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Data Storytelling.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0" y="1720081"/>
            <a:ext cx="4027363" cy="2959447"/>
          </a:xfrm>
          <a:prstGeom prst="rect">
            <a:avLst/>
          </a:prstGeom>
          <a:solidFill>
            <a:srgbClr val="003180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0" y="1720081"/>
            <a:ext cx="19050" cy="2959447"/>
          </a:xfrm>
          <a:prstGeom prst="roundRect">
            <a:avLst>
              <a:gd name="adj" fmla="val 318864"/>
            </a:avLst>
          </a:prstGeom>
          <a:solidFill>
            <a:srgbClr val="194A99"/>
          </a:solidFill>
          <a:ln/>
        </p:spPr>
      </p:sp>
      <p:sp>
        <p:nvSpPr>
          <p:cNvPr id="10" name="Text 8"/>
          <p:cNvSpPr/>
          <p:nvPr/>
        </p:nvSpPr>
        <p:spPr>
          <a:xfrm>
            <a:off x="4716587" y="1864668"/>
            <a:ext cx="3738190" cy="225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Future Roadmap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716587" y="2171923"/>
            <a:ext cx="3738190" cy="1751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9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Python automation.</a:t>
            </a:r>
            <a:endParaRPr lang="en-US" sz="1100" dirty="0"/>
          </a:p>
          <a:p>
            <a:pPr marL="0" indent="0" algn="l">
              <a:lnSpc>
                <a:spcPct val="129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Power BI dashboards.</a:t>
            </a:r>
            <a:endParaRPr lang="en-US" sz="1100" dirty="0"/>
          </a:p>
          <a:p>
            <a:pPr marL="0" indent="0" algn="l">
              <a:lnSpc>
                <a:spcPct val="129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ML predictive models.</a:t>
            </a:r>
            <a:endParaRPr lang="en-US" sz="1100" dirty="0"/>
          </a:p>
          <a:p>
            <a:pPr marL="0" indent="0" algn="l">
              <a:lnSpc>
                <a:spcPct val="129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Expanded datasets.</a:t>
            </a:r>
            <a:endParaRPr lang="en-US" sz="1100" dirty="0"/>
          </a:p>
          <a:p>
            <a:pPr marL="0" indent="0" algn="l">
              <a:lnSpc>
                <a:spcPct val="129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Automated ETL pipelines.</a:t>
            </a:r>
            <a:endParaRPr lang="en-US" sz="1100" dirty="0"/>
          </a:p>
          <a:p>
            <a:pPr marL="0" indent="0" algn="l">
              <a:lnSpc>
                <a:spcPct val="12900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Scouting recommendation system.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609DFF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1066</Words>
  <Application>Microsoft Office PowerPoint</Application>
  <PresentationFormat>On-screen Show (16:9)</PresentationFormat>
  <Paragraphs>168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Merriweather</vt:lpstr>
      <vt:lpstr>Arial</vt:lpstr>
      <vt:lpstr>Consolas</vt:lpstr>
      <vt:lpstr>Merriweather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Administrator</dc:creator>
  <cp:lastModifiedBy>sunny manoj</cp:lastModifiedBy>
  <cp:revision>6</cp:revision>
  <dcterms:created xsi:type="dcterms:W3CDTF">2026-07-12T08:18:01Z</dcterms:created>
  <dcterms:modified xsi:type="dcterms:W3CDTF">2026-07-12T14:43:05Z</dcterms:modified>
</cp:coreProperties>
</file>